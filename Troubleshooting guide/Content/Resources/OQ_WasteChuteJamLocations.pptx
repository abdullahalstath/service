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0" r:id="rId3"/>
    <p:sldId id="261" r:id="rId4"/>
    <p:sldId id="262" r:id="rId5"/>
    <p:sldId id="265" r:id="rId6"/>
    <p:sldId id="256" r:id="rId7"/>
    <p:sldId id="259" r:id="rId8"/>
    <p:sldId id="258"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90"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42072FA-1235-410E-A1E3-47390BE8DEF4}" type="datetimeFigureOut">
              <a:rPr lang="en-US" smtClean="0"/>
              <a:pPr/>
              <a:t>1/27/2012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2072FA-1235-410E-A1E3-47390BE8DEF4}" type="datetimeFigureOut">
              <a:rPr lang="en-US" smtClean="0"/>
              <a:pPr/>
              <a:t>1/27/2012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2072FA-1235-410E-A1E3-47390BE8DEF4}" type="datetimeFigureOut">
              <a:rPr lang="en-US" smtClean="0"/>
              <a:pPr/>
              <a:t>1/27/2012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42072FA-1235-410E-A1E3-47390BE8DEF4}" type="datetimeFigureOut">
              <a:rPr lang="en-US" smtClean="0"/>
              <a:pPr/>
              <a:t>1/27/2012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2072FA-1235-410E-A1E3-47390BE8DEF4}" type="datetimeFigureOut">
              <a:rPr lang="en-US" smtClean="0"/>
              <a:pPr/>
              <a:t>1/27/2012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42072FA-1235-410E-A1E3-47390BE8DEF4}" type="datetimeFigureOut">
              <a:rPr lang="en-US" smtClean="0"/>
              <a:pPr/>
              <a:t>1/27/2012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072FA-1235-410E-A1E3-47390BE8DEF4}" type="datetimeFigureOut">
              <a:rPr lang="en-US" smtClean="0"/>
              <a:pPr/>
              <a:t>1/27/2012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2072FA-1235-410E-A1E3-47390BE8DEF4}" type="datetimeFigureOut">
              <a:rPr lang="en-US" smtClean="0"/>
              <a:pPr/>
              <a:t>1/27/2012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2072FA-1235-410E-A1E3-47390BE8DEF4}" type="datetimeFigureOut">
              <a:rPr lang="en-US" smtClean="0"/>
              <a:pPr/>
              <a:t>1/27/2012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2072FA-1235-410E-A1E3-47390BE8DEF4}" type="datetimeFigureOut">
              <a:rPr lang="en-US" smtClean="0"/>
              <a:pPr/>
              <a:t>1/27/2012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2072FA-1235-410E-A1E3-47390BE8DEF4}" type="datetimeFigureOut">
              <a:rPr lang="en-US" smtClean="0"/>
              <a:pPr/>
              <a:t>1/27/2012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ADC646-921A-48A4-AE43-F3F0253FD3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2072FA-1235-410E-A1E3-47390BE8DEF4}" type="datetimeFigureOut">
              <a:rPr lang="en-US" smtClean="0"/>
              <a:pPr/>
              <a:t>1/27/2012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DC646-921A-48A4-AE43-F3F0253FD3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62200"/>
            <a:ext cx="8229600" cy="1143000"/>
          </a:xfrm>
        </p:spPr>
        <p:txBody>
          <a:bodyPr>
            <a:noAutofit/>
          </a:bodyPr>
          <a:lstStyle/>
          <a:p>
            <a:r>
              <a:rPr lang="en-US" sz="4800" dirty="0" smtClean="0"/>
              <a:t>OQ Jams in the Waste Chute- </a:t>
            </a:r>
            <a:br>
              <a:rPr lang="en-US" sz="4800" dirty="0" smtClean="0"/>
            </a:br>
            <a:r>
              <a:rPr lang="en-US" sz="4800" dirty="0" smtClean="0"/>
              <a:t>Methods of Errors</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p:cNvPicPr>
            <a:picLocks noChangeAspect="1" noChangeArrowheads="1"/>
          </p:cNvPicPr>
          <p:nvPr/>
        </p:nvPicPr>
        <p:blipFill>
          <a:blip r:embed="rId2" cstate="print"/>
          <a:srcRect/>
          <a:stretch>
            <a:fillRect/>
          </a:stretch>
        </p:blipFill>
        <p:spPr bwMode="auto">
          <a:xfrm>
            <a:off x="4314825" y="3286125"/>
            <a:ext cx="4829175" cy="3571875"/>
          </a:xfrm>
          <a:prstGeom prst="rect">
            <a:avLst/>
          </a:prstGeom>
          <a:noFill/>
          <a:ln w="25400">
            <a:solidFill>
              <a:schemeClr val="tx1"/>
            </a:solidFill>
            <a:miter lim="800000"/>
            <a:headEnd/>
            <a:tailEnd/>
          </a:ln>
        </p:spPr>
      </p:pic>
      <p:pic>
        <p:nvPicPr>
          <p:cNvPr id="4102" name="Picture 6"/>
          <p:cNvPicPr>
            <a:picLocks noChangeAspect="1" noChangeArrowheads="1"/>
          </p:cNvPicPr>
          <p:nvPr/>
        </p:nvPicPr>
        <p:blipFill>
          <a:blip r:embed="rId3" cstate="print"/>
          <a:srcRect/>
          <a:stretch>
            <a:fillRect/>
          </a:stretch>
        </p:blipFill>
        <p:spPr bwMode="auto">
          <a:xfrm>
            <a:off x="0" y="3429001"/>
            <a:ext cx="4486275" cy="3429000"/>
          </a:xfrm>
          <a:prstGeom prst="rect">
            <a:avLst/>
          </a:prstGeom>
          <a:noFill/>
          <a:ln w="25400">
            <a:solidFill>
              <a:schemeClr val="tx1"/>
            </a:solidFill>
            <a:miter lim="800000"/>
            <a:headEnd/>
            <a:tailEnd/>
          </a:ln>
        </p:spPr>
      </p:pic>
      <p:pic>
        <p:nvPicPr>
          <p:cNvPr id="4103" name="Picture 7"/>
          <p:cNvPicPr>
            <a:picLocks noChangeAspect="1" noChangeArrowheads="1"/>
          </p:cNvPicPr>
          <p:nvPr/>
        </p:nvPicPr>
        <p:blipFill>
          <a:blip r:embed="rId4" cstate="print"/>
          <a:srcRect/>
          <a:stretch>
            <a:fillRect/>
          </a:stretch>
        </p:blipFill>
        <p:spPr bwMode="auto">
          <a:xfrm>
            <a:off x="4572000" y="0"/>
            <a:ext cx="4572000" cy="3338512"/>
          </a:xfrm>
          <a:prstGeom prst="rect">
            <a:avLst/>
          </a:prstGeom>
          <a:noFill/>
          <a:ln w="25400">
            <a:solidFill>
              <a:schemeClr val="tx1"/>
            </a:solidFill>
            <a:miter lim="800000"/>
            <a:headEnd/>
            <a:tailEnd/>
          </a:ln>
        </p:spPr>
      </p:pic>
      <p:sp>
        <p:nvSpPr>
          <p:cNvPr id="9" name="TextBox 8"/>
          <p:cNvSpPr txBox="1"/>
          <p:nvPr/>
        </p:nvSpPr>
        <p:spPr>
          <a:xfrm>
            <a:off x="381000" y="1219200"/>
            <a:ext cx="3886200" cy="138499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u="sng" dirty="0" smtClean="0"/>
              <a:t>Problem: </a:t>
            </a:r>
            <a:r>
              <a:rPr lang="en-US" sz="1400" b="1" dirty="0" smtClean="0"/>
              <a:t> </a:t>
            </a:r>
            <a:r>
              <a:rPr lang="en-US" sz="1400" dirty="0" smtClean="0"/>
              <a:t>The Solid Waste Bag is not installed flush against the sides of the Waste Bin, then the MTU gets hung up on the bag, causing a backup.  </a:t>
            </a:r>
          </a:p>
          <a:p>
            <a:r>
              <a:rPr lang="en-US" sz="1400" b="1" u="sng" dirty="0" smtClean="0"/>
              <a:t>Solution: </a:t>
            </a:r>
            <a:r>
              <a:rPr lang="en-US" sz="1400" dirty="0" smtClean="0"/>
              <a:t>Train the operator to properly install the Waste Bag, and make sure a Waste Bin Cover is installed.</a:t>
            </a:r>
            <a:endParaRPr lang="en-US" sz="1400" dirty="0"/>
          </a:p>
        </p:txBody>
      </p:sp>
      <p:sp>
        <p:nvSpPr>
          <p:cNvPr id="10" name="TextBox 9"/>
          <p:cNvSpPr txBox="1"/>
          <p:nvPr/>
        </p:nvSpPr>
        <p:spPr>
          <a:xfrm>
            <a:off x="5334000" y="4876800"/>
            <a:ext cx="1219200" cy="738664"/>
          </a:xfrm>
          <a:prstGeom prst="rect">
            <a:avLst/>
          </a:prstGeom>
          <a:solidFill>
            <a:schemeClr val="bg1"/>
          </a:solidFill>
          <a:ln>
            <a:solidFill>
              <a:schemeClr val="tx1"/>
            </a:solidFill>
          </a:ln>
        </p:spPr>
        <p:txBody>
          <a:bodyPr wrap="square" rtlCol="0">
            <a:spAutoFit/>
          </a:bodyPr>
          <a:lstStyle/>
          <a:p>
            <a:r>
              <a:rPr lang="en-US" sz="1400" dirty="0" smtClean="0"/>
              <a:t>Waste Bag is not Flush with the Waste Bin</a:t>
            </a:r>
            <a:endParaRPr lang="en-US" sz="1400" dirty="0"/>
          </a:p>
        </p:txBody>
      </p:sp>
      <p:sp>
        <p:nvSpPr>
          <p:cNvPr id="11" name="TextBox 10"/>
          <p:cNvSpPr txBox="1"/>
          <p:nvPr/>
        </p:nvSpPr>
        <p:spPr>
          <a:xfrm>
            <a:off x="2895600" y="5715000"/>
            <a:ext cx="1066800" cy="738664"/>
          </a:xfrm>
          <a:prstGeom prst="rect">
            <a:avLst/>
          </a:prstGeom>
          <a:solidFill>
            <a:schemeClr val="bg1"/>
          </a:solidFill>
          <a:ln>
            <a:solidFill>
              <a:schemeClr val="tx1"/>
            </a:solidFill>
          </a:ln>
        </p:spPr>
        <p:txBody>
          <a:bodyPr wrap="square" rtlCol="0">
            <a:spAutoFit/>
          </a:bodyPr>
          <a:lstStyle/>
          <a:p>
            <a:r>
              <a:rPr lang="en-US" sz="1400" dirty="0" smtClean="0"/>
              <a:t>MTU gets caught on Waste Bag</a:t>
            </a:r>
            <a:endParaRPr lang="en-US" sz="1400" dirty="0"/>
          </a:p>
        </p:txBody>
      </p:sp>
      <p:sp>
        <p:nvSpPr>
          <p:cNvPr id="12" name="TextBox 11"/>
          <p:cNvSpPr txBox="1"/>
          <p:nvPr/>
        </p:nvSpPr>
        <p:spPr>
          <a:xfrm>
            <a:off x="7315200" y="381000"/>
            <a:ext cx="1600200" cy="307777"/>
          </a:xfrm>
          <a:prstGeom prst="rect">
            <a:avLst/>
          </a:prstGeom>
          <a:solidFill>
            <a:schemeClr val="bg1"/>
          </a:solidFill>
          <a:ln>
            <a:solidFill>
              <a:schemeClr val="tx1"/>
            </a:solidFill>
          </a:ln>
        </p:spPr>
        <p:txBody>
          <a:bodyPr wrap="square" rtlCol="0">
            <a:spAutoFit/>
          </a:bodyPr>
          <a:lstStyle/>
          <a:p>
            <a:r>
              <a:rPr lang="en-US" sz="1400" dirty="0" smtClean="0"/>
              <a:t>View from the top.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cstate="print"/>
          <a:srcRect/>
          <a:stretch>
            <a:fillRect/>
          </a:stretch>
        </p:blipFill>
        <p:spPr bwMode="auto">
          <a:xfrm>
            <a:off x="152400" y="152400"/>
            <a:ext cx="4495800" cy="2287804"/>
          </a:xfrm>
          <a:prstGeom prst="rect">
            <a:avLst/>
          </a:prstGeom>
          <a:noFill/>
          <a:ln w="9525">
            <a:solidFill>
              <a:schemeClr val="tx1"/>
            </a:solid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228600" y="2895600"/>
            <a:ext cx="3816605" cy="3657600"/>
          </a:xfrm>
          <a:prstGeom prst="rect">
            <a:avLst/>
          </a:prstGeom>
          <a:noFill/>
          <a:ln w="19050">
            <a:solidFill>
              <a:schemeClr val="tx1"/>
            </a:solidFill>
            <a:miter lim="800000"/>
            <a:headEnd/>
            <a:tailEnd/>
          </a:ln>
        </p:spPr>
      </p:pic>
      <p:sp>
        <p:nvSpPr>
          <p:cNvPr id="5" name="TextBox 4"/>
          <p:cNvSpPr txBox="1"/>
          <p:nvPr/>
        </p:nvSpPr>
        <p:spPr>
          <a:xfrm>
            <a:off x="5029200" y="609600"/>
            <a:ext cx="3733800" cy="160043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u="sng" dirty="0" smtClean="0"/>
              <a:t>Problem: </a:t>
            </a:r>
            <a:r>
              <a:rPr lang="en-US" sz="1400" b="1" dirty="0" smtClean="0"/>
              <a:t> </a:t>
            </a:r>
            <a:r>
              <a:rPr lang="en-US" sz="1400" dirty="0" smtClean="0"/>
              <a:t>The  disposable Solid Waste Bin Cover is not installed correctly.  Either the cover is not pushed down completely, or it is shifted forward some (or both).  This will cause MTUs to catch on the cover.</a:t>
            </a:r>
          </a:p>
          <a:p>
            <a:r>
              <a:rPr lang="en-US" sz="1400" b="1" u="sng" dirty="0" smtClean="0"/>
              <a:t>Solution: </a:t>
            </a:r>
            <a:r>
              <a:rPr lang="en-US" sz="1400" dirty="0" smtClean="0"/>
              <a:t>Train the operator to properly install the Waste Drawer Cover.</a:t>
            </a:r>
            <a:endParaRPr lang="en-US" sz="1400" dirty="0"/>
          </a:p>
        </p:txBody>
      </p:sp>
      <p:sp>
        <p:nvSpPr>
          <p:cNvPr id="12" name="TextBox 11"/>
          <p:cNvSpPr txBox="1"/>
          <p:nvPr/>
        </p:nvSpPr>
        <p:spPr>
          <a:xfrm>
            <a:off x="381000" y="1676400"/>
            <a:ext cx="2133600" cy="523220"/>
          </a:xfrm>
          <a:prstGeom prst="rect">
            <a:avLst/>
          </a:prstGeom>
          <a:solidFill>
            <a:schemeClr val="bg1"/>
          </a:solidFill>
          <a:ln>
            <a:solidFill>
              <a:schemeClr val="tx1"/>
            </a:solidFill>
          </a:ln>
        </p:spPr>
        <p:txBody>
          <a:bodyPr wrap="square" rtlCol="0">
            <a:spAutoFit/>
          </a:bodyPr>
          <a:lstStyle/>
          <a:p>
            <a:r>
              <a:rPr lang="en-US" sz="1400" dirty="0" smtClean="0"/>
              <a:t>MTUs get caught on the waste cover.</a:t>
            </a:r>
            <a:endParaRPr lang="en-US" sz="1400" dirty="0"/>
          </a:p>
        </p:txBody>
      </p:sp>
      <p:pic>
        <p:nvPicPr>
          <p:cNvPr id="5122" name="Picture 2"/>
          <p:cNvPicPr>
            <a:picLocks noChangeAspect="1" noChangeArrowheads="1"/>
          </p:cNvPicPr>
          <p:nvPr/>
        </p:nvPicPr>
        <p:blipFill>
          <a:blip r:embed="rId4" cstate="print"/>
          <a:srcRect/>
          <a:stretch>
            <a:fillRect/>
          </a:stretch>
        </p:blipFill>
        <p:spPr bwMode="auto">
          <a:xfrm>
            <a:off x="4114800" y="2895600"/>
            <a:ext cx="4876800" cy="3640609"/>
          </a:xfrm>
          <a:prstGeom prst="rect">
            <a:avLst/>
          </a:prstGeom>
          <a:noFill/>
          <a:ln w="19050">
            <a:solidFill>
              <a:schemeClr val="tx1"/>
            </a:solidFill>
            <a:miter lim="800000"/>
            <a:headEnd/>
            <a:tailEnd/>
          </a:ln>
        </p:spPr>
      </p:pic>
      <p:sp>
        <p:nvSpPr>
          <p:cNvPr id="6" name="TextBox 5"/>
          <p:cNvSpPr txBox="1"/>
          <p:nvPr/>
        </p:nvSpPr>
        <p:spPr>
          <a:xfrm>
            <a:off x="4724400" y="4572000"/>
            <a:ext cx="2133600" cy="523220"/>
          </a:xfrm>
          <a:prstGeom prst="rect">
            <a:avLst/>
          </a:prstGeom>
          <a:solidFill>
            <a:schemeClr val="bg1"/>
          </a:solidFill>
          <a:ln w="19050">
            <a:solidFill>
              <a:schemeClr val="tx1"/>
            </a:solidFill>
          </a:ln>
        </p:spPr>
        <p:txBody>
          <a:bodyPr wrap="square" rtlCol="0">
            <a:spAutoFit/>
          </a:bodyPr>
          <a:lstStyle/>
          <a:p>
            <a:r>
              <a:rPr lang="en-US" sz="1400" dirty="0" smtClean="0"/>
              <a:t>Waste Cover is not pushed down completely.</a:t>
            </a:r>
            <a:endParaRPr lang="en-US" sz="1400" dirty="0"/>
          </a:p>
        </p:txBody>
      </p:sp>
      <p:cxnSp>
        <p:nvCxnSpPr>
          <p:cNvPr id="10" name="Straight Arrow Connector 9"/>
          <p:cNvCxnSpPr/>
          <p:nvPr/>
        </p:nvCxnSpPr>
        <p:spPr>
          <a:xfrm rot="5400000" flipH="1" flipV="1">
            <a:off x="4572000" y="4343400"/>
            <a:ext cx="457200" cy="1588"/>
          </a:xfrm>
          <a:prstGeom prst="straightConnector1">
            <a:avLst/>
          </a:prstGeom>
          <a:ln w="19050">
            <a:solidFill>
              <a:srgbClr val="FFFF00"/>
            </a:solidFill>
            <a:tailEnd type="arrow"/>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4343400" y="3505200"/>
            <a:ext cx="304800" cy="458788"/>
            <a:chOff x="4953000" y="2362200"/>
            <a:chExt cx="304800" cy="306388"/>
          </a:xfrm>
        </p:grpSpPr>
        <p:cxnSp>
          <p:nvCxnSpPr>
            <p:cNvPr id="24" name="Straight Arrow Connector 23"/>
            <p:cNvCxnSpPr/>
            <p:nvPr/>
          </p:nvCxnSpPr>
          <p:spPr>
            <a:xfrm>
              <a:off x="4953000" y="2667000"/>
              <a:ext cx="304800" cy="1588"/>
            </a:xfrm>
            <a:prstGeom prst="straightConnector1">
              <a:avLst/>
            </a:prstGeom>
            <a:ln w="19050">
              <a:solidFill>
                <a:srgbClr val="FFFF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flipV="1">
              <a:off x="4801394" y="2513806"/>
              <a:ext cx="304800" cy="1588"/>
            </a:xfrm>
            <a:prstGeom prst="line">
              <a:avLst/>
            </a:prstGeom>
            <a:ln w="19050">
              <a:solidFill>
                <a:srgbClr val="FFFF00"/>
              </a:solidFill>
            </a:ln>
          </p:spPr>
          <p:style>
            <a:lnRef idx="1">
              <a:schemeClr val="accent1"/>
            </a:lnRef>
            <a:fillRef idx="0">
              <a:schemeClr val="accent1"/>
            </a:fillRef>
            <a:effectRef idx="0">
              <a:schemeClr val="accent1"/>
            </a:effectRef>
            <a:fontRef idx="minor">
              <a:schemeClr val="tx1"/>
            </a:fontRef>
          </p:style>
        </p:cxnSp>
      </p:grpSp>
      <p:sp>
        <p:nvSpPr>
          <p:cNvPr id="15" name="TextBox 14"/>
          <p:cNvSpPr txBox="1"/>
          <p:nvPr/>
        </p:nvSpPr>
        <p:spPr>
          <a:xfrm>
            <a:off x="4267200" y="3048000"/>
            <a:ext cx="1828800" cy="523220"/>
          </a:xfrm>
          <a:prstGeom prst="rect">
            <a:avLst/>
          </a:prstGeom>
          <a:solidFill>
            <a:schemeClr val="bg1"/>
          </a:solidFill>
          <a:ln w="19050">
            <a:solidFill>
              <a:schemeClr val="tx1"/>
            </a:solidFill>
          </a:ln>
        </p:spPr>
        <p:txBody>
          <a:bodyPr wrap="square" rtlCol="0">
            <a:spAutoFit/>
          </a:bodyPr>
          <a:lstStyle/>
          <a:p>
            <a:r>
              <a:rPr lang="en-US" sz="1400" dirty="0" smtClean="0"/>
              <a:t>Waste Cover is pushed forward slightly.</a:t>
            </a:r>
            <a:endParaRPr lang="en-US" sz="1400" dirty="0"/>
          </a:p>
        </p:txBody>
      </p:sp>
      <p:sp>
        <p:nvSpPr>
          <p:cNvPr id="30" name="TextBox 29"/>
          <p:cNvSpPr txBox="1"/>
          <p:nvPr/>
        </p:nvSpPr>
        <p:spPr>
          <a:xfrm>
            <a:off x="609600" y="3276601"/>
            <a:ext cx="1600200" cy="304800"/>
          </a:xfrm>
          <a:prstGeom prst="rect">
            <a:avLst/>
          </a:prstGeom>
          <a:solidFill>
            <a:schemeClr val="bg1"/>
          </a:solidFill>
          <a:ln>
            <a:solidFill>
              <a:schemeClr val="tx1"/>
            </a:solidFill>
          </a:ln>
        </p:spPr>
        <p:txBody>
          <a:bodyPr wrap="square" rtlCol="0">
            <a:spAutoFit/>
          </a:bodyPr>
          <a:lstStyle/>
          <a:p>
            <a:r>
              <a:rPr lang="en-US" sz="1400" dirty="0" smtClean="0"/>
              <a:t>View From the Top.</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0" y="3787098"/>
            <a:ext cx="4648200" cy="3070902"/>
          </a:xfrm>
          <a:prstGeom prst="rect">
            <a:avLst/>
          </a:prstGeom>
          <a:noFill/>
          <a:ln w="31750">
            <a:solidFill>
              <a:schemeClr val="tx1"/>
            </a:solid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4876800" y="228600"/>
            <a:ext cx="4147676" cy="3200400"/>
          </a:xfrm>
          <a:prstGeom prst="rect">
            <a:avLst/>
          </a:prstGeom>
          <a:noFill/>
          <a:ln w="31750">
            <a:solidFill>
              <a:schemeClr val="tx1"/>
            </a:solidFill>
            <a:miter lim="800000"/>
            <a:headEnd/>
            <a:tailEnd/>
          </a:ln>
        </p:spPr>
      </p:pic>
      <p:pic>
        <p:nvPicPr>
          <p:cNvPr id="6149" name="Picture 5"/>
          <p:cNvPicPr>
            <a:picLocks noChangeAspect="1" noChangeArrowheads="1"/>
          </p:cNvPicPr>
          <p:nvPr/>
        </p:nvPicPr>
        <p:blipFill>
          <a:blip r:embed="rId4" cstate="print"/>
          <a:srcRect/>
          <a:stretch>
            <a:fillRect/>
          </a:stretch>
        </p:blipFill>
        <p:spPr bwMode="auto">
          <a:xfrm>
            <a:off x="4876800" y="3657600"/>
            <a:ext cx="4176192" cy="3200400"/>
          </a:xfrm>
          <a:prstGeom prst="rect">
            <a:avLst/>
          </a:prstGeom>
          <a:noFill/>
          <a:ln w="31750">
            <a:solidFill>
              <a:schemeClr val="tx1"/>
            </a:solidFill>
            <a:miter lim="800000"/>
            <a:headEnd/>
            <a:tailEnd/>
          </a:ln>
        </p:spPr>
      </p:pic>
      <p:sp>
        <p:nvSpPr>
          <p:cNvPr id="7" name="TextBox 6"/>
          <p:cNvSpPr txBox="1"/>
          <p:nvPr/>
        </p:nvSpPr>
        <p:spPr>
          <a:xfrm>
            <a:off x="381000" y="685801"/>
            <a:ext cx="3200400" cy="138499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u="sng" dirty="0" smtClean="0"/>
              <a:t>Problem: </a:t>
            </a:r>
            <a:r>
              <a:rPr lang="en-US" sz="1400" b="1" dirty="0" smtClean="0"/>
              <a:t> </a:t>
            </a:r>
            <a:r>
              <a:rPr lang="en-US" sz="1400" dirty="0" smtClean="0"/>
              <a:t>Waste Bin cover is installed correctly, but an MTU still gets caught on the Waste Bin Cover.</a:t>
            </a:r>
          </a:p>
          <a:p>
            <a:r>
              <a:rPr lang="en-US" sz="1400" b="1" u="sng" dirty="0" smtClean="0"/>
              <a:t>Solution: </a:t>
            </a:r>
            <a:r>
              <a:rPr lang="en-US" sz="1400" dirty="0" smtClean="0"/>
              <a:t>Clear the jam and restart the instrument.  Solution is in the works at GP Engineering.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0" y="3386138"/>
            <a:ext cx="3934288" cy="3471862"/>
          </a:xfrm>
          <a:prstGeom prst="rect">
            <a:avLst/>
          </a:prstGeom>
          <a:noFill/>
          <a:ln w="22225">
            <a:solidFill>
              <a:schemeClr val="tx1"/>
            </a:solidFill>
            <a:miter lim="800000"/>
            <a:headEnd/>
            <a:tailEnd/>
          </a:ln>
        </p:spPr>
      </p:pic>
      <p:pic>
        <p:nvPicPr>
          <p:cNvPr id="2" name="Picture 2"/>
          <p:cNvPicPr>
            <a:picLocks noChangeAspect="1" noChangeArrowheads="1"/>
          </p:cNvPicPr>
          <p:nvPr/>
        </p:nvPicPr>
        <p:blipFill>
          <a:blip r:embed="rId3" cstate="print"/>
          <a:srcRect/>
          <a:stretch>
            <a:fillRect/>
          </a:stretch>
        </p:blipFill>
        <p:spPr bwMode="auto">
          <a:xfrm>
            <a:off x="3413760" y="1"/>
            <a:ext cx="5730240" cy="4267200"/>
          </a:xfrm>
          <a:prstGeom prst="rect">
            <a:avLst/>
          </a:prstGeom>
          <a:noFill/>
          <a:ln w="22225">
            <a:solidFill>
              <a:schemeClr val="tx1"/>
            </a:solidFill>
            <a:miter lim="800000"/>
            <a:headEnd/>
            <a:tailEnd/>
          </a:ln>
        </p:spPr>
      </p:pic>
      <p:sp>
        <p:nvSpPr>
          <p:cNvPr id="4" name="TextBox 3"/>
          <p:cNvSpPr txBox="1"/>
          <p:nvPr/>
        </p:nvSpPr>
        <p:spPr>
          <a:xfrm>
            <a:off x="0" y="0"/>
            <a:ext cx="3352800" cy="353943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22225">
            <a:solidFill>
              <a:schemeClr val="tx1"/>
            </a:solidFill>
          </a:ln>
        </p:spPr>
        <p:txBody>
          <a:bodyPr wrap="square" rtlCol="0">
            <a:spAutoFit/>
          </a:bodyPr>
          <a:lstStyle/>
          <a:p>
            <a:r>
              <a:rPr lang="en-US" sz="1400" b="1" u="sng" dirty="0" smtClean="0"/>
              <a:t>Problem: </a:t>
            </a:r>
            <a:r>
              <a:rPr lang="en-US" sz="1400" b="1" dirty="0" smtClean="0"/>
              <a:t> </a:t>
            </a:r>
            <a:r>
              <a:rPr lang="en-US" sz="1400" dirty="0" smtClean="0"/>
              <a:t>MTU gets caught on the eject chute.</a:t>
            </a:r>
          </a:p>
          <a:p>
            <a:r>
              <a:rPr lang="en-US" sz="1400" b="1" u="sng" dirty="0" smtClean="0"/>
              <a:t>Solution:</a:t>
            </a:r>
            <a:r>
              <a:rPr lang="en-US" sz="1400" b="1" dirty="0" smtClean="0"/>
              <a:t> </a:t>
            </a:r>
          </a:p>
          <a:p>
            <a:pPr marL="342900" indent="-342900">
              <a:buAutoNum type="arabicPeriod"/>
            </a:pPr>
            <a:r>
              <a:rPr lang="en-US" sz="1400" dirty="0" smtClean="0"/>
              <a:t>Is the Service Drawer </a:t>
            </a:r>
            <a:r>
              <a:rPr lang="en-US" sz="1400" i="1" dirty="0" smtClean="0"/>
              <a:t>COMPLETELY</a:t>
            </a:r>
            <a:r>
              <a:rPr lang="en-US" sz="1400" dirty="0" smtClean="0"/>
              <a:t> closed?  Even 1 mm out can cause an issue.  Also, the COP shield can cause the drawer to not close completely.  Remove the shield, close the drawer, then reinstall the shield.  Look down at the eject chute once this is complete.  Is there a lip for the MTU to catch on?</a:t>
            </a:r>
          </a:p>
          <a:p>
            <a:pPr marL="342900" indent="-342900">
              <a:buFontTx/>
              <a:buAutoNum type="arabicPeriod"/>
            </a:pPr>
            <a:r>
              <a:rPr lang="en-US" sz="1400" dirty="0" smtClean="0"/>
              <a:t>Adjust the MTU Chute and/or OQ so that there is no lip for the MTU barcode tab to get hung up on</a:t>
            </a:r>
            <a:r>
              <a:rPr lang="en-US" sz="1400" dirty="0" smtClean="0"/>
              <a:t>. See </a:t>
            </a:r>
            <a:r>
              <a:rPr lang="en-US" sz="1400" dirty="0" smtClean="0"/>
              <a:t>GP11-236-FSN for instructions.</a:t>
            </a:r>
            <a:endParaRPr lang="en-US" sz="1400" dirty="0" smtClean="0"/>
          </a:p>
          <a:p>
            <a:pPr marL="342900" indent="-342900"/>
            <a:endParaRPr lang="en-US" sz="1400" dirty="0"/>
          </a:p>
        </p:txBody>
      </p:sp>
      <p:sp>
        <p:nvSpPr>
          <p:cNvPr id="5" name="Oval 4"/>
          <p:cNvSpPr/>
          <p:nvPr/>
        </p:nvSpPr>
        <p:spPr>
          <a:xfrm>
            <a:off x="2438400" y="4876800"/>
            <a:ext cx="304800" cy="381000"/>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295400" y="5867400"/>
            <a:ext cx="2133600" cy="523220"/>
          </a:xfrm>
          <a:prstGeom prst="rect">
            <a:avLst/>
          </a:prstGeom>
          <a:solidFill>
            <a:schemeClr val="bg1"/>
          </a:solidFill>
          <a:ln>
            <a:solidFill>
              <a:schemeClr val="tx1"/>
            </a:solidFill>
          </a:ln>
        </p:spPr>
        <p:txBody>
          <a:bodyPr wrap="square" rtlCol="0">
            <a:spAutoFit/>
          </a:bodyPr>
          <a:lstStyle/>
          <a:p>
            <a:r>
              <a:rPr lang="en-US" sz="1400" dirty="0" smtClean="0"/>
              <a:t>MTU barcode tab gets caught on the eject chute.</a:t>
            </a:r>
            <a:endParaRPr lang="en-US" sz="1400" dirty="0"/>
          </a:p>
        </p:txBody>
      </p:sp>
      <p:sp>
        <p:nvSpPr>
          <p:cNvPr id="7" name="TextBox 6"/>
          <p:cNvSpPr txBox="1"/>
          <p:nvPr/>
        </p:nvSpPr>
        <p:spPr>
          <a:xfrm>
            <a:off x="6705600" y="1752600"/>
            <a:ext cx="2286000" cy="523220"/>
          </a:xfrm>
          <a:prstGeom prst="rect">
            <a:avLst/>
          </a:prstGeom>
          <a:solidFill>
            <a:schemeClr val="bg1"/>
          </a:solidFill>
          <a:ln>
            <a:solidFill>
              <a:schemeClr val="tx1"/>
            </a:solidFill>
          </a:ln>
        </p:spPr>
        <p:txBody>
          <a:bodyPr wrap="square" rtlCol="0">
            <a:spAutoFit/>
          </a:bodyPr>
          <a:lstStyle/>
          <a:p>
            <a:r>
              <a:rPr lang="en-US" sz="1400" dirty="0" smtClean="0"/>
              <a:t>Eject Chute lip MTU barcode tabs can get caught 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124200" y="1819266"/>
            <a:ext cx="5339162" cy="4429134"/>
          </a:xfrm>
          <a:prstGeom prst="rect">
            <a:avLst/>
          </a:prstGeom>
          <a:noFill/>
          <a:ln w="22225">
            <a:solidFill>
              <a:schemeClr val="tx1"/>
            </a:solidFill>
            <a:miter lim="800000"/>
            <a:headEnd/>
            <a:tailEnd/>
          </a:ln>
        </p:spPr>
      </p:pic>
      <p:sp>
        <p:nvSpPr>
          <p:cNvPr id="3" name="TextBox 2"/>
          <p:cNvSpPr txBox="1"/>
          <p:nvPr/>
        </p:nvSpPr>
        <p:spPr>
          <a:xfrm>
            <a:off x="304800" y="457200"/>
            <a:ext cx="3048000" cy="116955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u="sng" dirty="0" smtClean="0"/>
              <a:t>Problem: </a:t>
            </a:r>
            <a:r>
              <a:rPr lang="en-US" sz="1400" b="1" dirty="0" smtClean="0"/>
              <a:t> </a:t>
            </a:r>
            <a:r>
              <a:rPr lang="en-US" sz="1400" dirty="0" smtClean="0"/>
              <a:t>Two MTUs jam in the eject chute.</a:t>
            </a:r>
          </a:p>
          <a:p>
            <a:r>
              <a:rPr lang="en-US" sz="1400" b="1" u="sng" dirty="0" smtClean="0"/>
              <a:t>Solution:</a:t>
            </a:r>
            <a:r>
              <a:rPr lang="en-US" sz="1400" b="1" dirty="0" smtClean="0"/>
              <a:t> </a:t>
            </a:r>
            <a:r>
              <a:rPr lang="en-US" sz="1400" dirty="0" smtClean="0"/>
              <a:t>Clear the jam and restart the instrument.  Solution is in the works at GP Engineering.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3171825" y="76200"/>
            <a:ext cx="5972175" cy="3219450"/>
          </a:xfrm>
          <a:prstGeom prst="rect">
            <a:avLst/>
          </a:prstGeom>
          <a:noFill/>
          <a:ln w="22225">
            <a:solidFill>
              <a:schemeClr val="tx1"/>
            </a:solidFill>
            <a:miter lim="800000"/>
            <a:headEnd/>
            <a:tailEnd/>
          </a:ln>
        </p:spPr>
      </p:pic>
      <p:pic>
        <p:nvPicPr>
          <p:cNvPr id="3074" name="Picture 2"/>
          <p:cNvPicPr>
            <a:picLocks noChangeAspect="1" noChangeArrowheads="1"/>
          </p:cNvPicPr>
          <p:nvPr/>
        </p:nvPicPr>
        <p:blipFill>
          <a:blip r:embed="rId3" cstate="print"/>
          <a:srcRect/>
          <a:stretch>
            <a:fillRect/>
          </a:stretch>
        </p:blipFill>
        <p:spPr bwMode="auto">
          <a:xfrm>
            <a:off x="3124200" y="3429000"/>
            <a:ext cx="4444350" cy="3338512"/>
          </a:xfrm>
          <a:prstGeom prst="rect">
            <a:avLst/>
          </a:prstGeom>
          <a:noFill/>
          <a:ln w="22225">
            <a:solidFill>
              <a:schemeClr val="tx1"/>
            </a:solidFill>
            <a:miter lim="800000"/>
            <a:headEnd/>
            <a:tailEnd/>
          </a:ln>
        </p:spPr>
      </p:pic>
      <p:sp>
        <p:nvSpPr>
          <p:cNvPr id="4" name="TextBox 3"/>
          <p:cNvSpPr txBox="1"/>
          <p:nvPr/>
        </p:nvSpPr>
        <p:spPr>
          <a:xfrm>
            <a:off x="304800" y="457200"/>
            <a:ext cx="2590800" cy="353943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u="sng" dirty="0" smtClean="0"/>
              <a:t>Problem: </a:t>
            </a:r>
            <a:r>
              <a:rPr lang="en-US" sz="1400" b="1" dirty="0" smtClean="0"/>
              <a:t> </a:t>
            </a:r>
            <a:r>
              <a:rPr lang="en-US" sz="1400" dirty="0" smtClean="0"/>
              <a:t>COP cable for LD (or other module) hangs down, and MTUs catch on the cable.</a:t>
            </a:r>
          </a:p>
          <a:p>
            <a:r>
              <a:rPr lang="en-US" sz="1400" dirty="0" smtClean="0"/>
              <a:t>- Also note- If the thermistor for the chiller ramp is not properly secured, it also can cause MTUs to be hung up.  The thermistor is a thin black or white wire that can hang across the exit point of the OQ.</a:t>
            </a:r>
          </a:p>
          <a:p>
            <a:r>
              <a:rPr lang="en-US" sz="1400" b="1" u="sng" dirty="0" smtClean="0"/>
              <a:t>Solution:</a:t>
            </a:r>
            <a:r>
              <a:rPr lang="en-US" sz="1400" b="1" dirty="0" smtClean="0"/>
              <a:t> </a:t>
            </a:r>
            <a:r>
              <a:rPr lang="en-US" sz="1400" dirty="0" smtClean="0"/>
              <a:t>Ensure all COP cables are properly secured to the underside of the </a:t>
            </a:r>
            <a:r>
              <a:rPr lang="en-US" sz="1400" smtClean="0"/>
              <a:t>Service Drawer</a:t>
            </a:r>
            <a:r>
              <a:rPr lang="en-US" sz="1400" dirty="0" smtClean="0"/>
              <a:t>,</a:t>
            </a:r>
            <a:r>
              <a:rPr lang="en-US" sz="1400" smtClean="0"/>
              <a:t> </a:t>
            </a:r>
            <a:r>
              <a:rPr lang="en-US" sz="1400" dirty="0" smtClean="0"/>
              <a:t>and that the Chiller ramp thermistor is  tied away from the exit point of the OQ.</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bwMode="auto">
          <a:xfrm>
            <a:off x="990600" y="2209800"/>
            <a:ext cx="7162800" cy="4257548"/>
          </a:xfrm>
          <a:prstGeom prst="rect">
            <a:avLst/>
          </a:prstGeom>
          <a:noFill/>
          <a:ln w="22225">
            <a:solidFill>
              <a:schemeClr val="tx1"/>
            </a:solidFill>
            <a:miter lim="800000"/>
            <a:headEnd/>
            <a:tailEnd/>
          </a:ln>
        </p:spPr>
      </p:pic>
      <p:sp>
        <p:nvSpPr>
          <p:cNvPr id="3" name="TextBox 2"/>
          <p:cNvSpPr txBox="1"/>
          <p:nvPr/>
        </p:nvSpPr>
        <p:spPr>
          <a:xfrm>
            <a:off x="304800" y="457201"/>
            <a:ext cx="2743200" cy="116955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tx1"/>
            </a:solidFill>
          </a:ln>
        </p:spPr>
        <p:txBody>
          <a:bodyPr wrap="square" rtlCol="0">
            <a:spAutoFit/>
          </a:bodyPr>
          <a:lstStyle/>
          <a:p>
            <a:r>
              <a:rPr lang="en-US" sz="1400" b="1" u="sng" dirty="0" smtClean="0"/>
              <a:t>Problem: </a:t>
            </a:r>
            <a:r>
              <a:rPr lang="en-US" sz="1400" b="1" dirty="0" smtClean="0"/>
              <a:t> </a:t>
            </a:r>
            <a:r>
              <a:rPr lang="en-US" sz="1400" dirty="0" smtClean="0"/>
              <a:t>MTU is crooked under the OQ aspirators</a:t>
            </a:r>
          </a:p>
          <a:p>
            <a:r>
              <a:rPr lang="en-US" sz="1400" b="1" u="sng" dirty="0" smtClean="0"/>
              <a:t>Solution:</a:t>
            </a:r>
            <a:r>
              <a:rPr lang="en-US" sz="1400" b="1" dirty="0" smtClean="0"/>
              <a:t> </a:t>
            </a:r>
            <a:r>
              <a:rPr lang="en-US" sz="1400" dirty="0" smtClean="0"/>
              <a:t>Make sure the instrument is level.  Also, report this issue to GP engineering ASAP.</a:t>
            </a:r>
            <a:endParaRPr lang="en-US" sz="1400" dirty="0"/>
          </a:p>
        </p:txBody>
      </p:sp>
      <p:grpSp>
        <p:nvGrpSpPr>
          <p:cNvPr id="11" name="Group 10"/>
          <p:cNvGrpSpPr/>
          <p:nvPr/>
        </p:nvGrpSpPr>
        <p:grpSpPr>
          <a:xfrm>
            <a:off x="2362200" y="5715000"/>
            <a:ext cx="762000" cy="457200"/>
            <a:chOff x="5638006" y="3505994"/>
            <a:chExt cx="457204" cy="305594"/>
          </a:xfrm>
        </p:grpSpPr>
        <p:cxnSp>
          <p:nvCxnSpPr>
            <p:cNvPr id="7" name="Straight Connector 6"/>
            <p:cNvCxnSpPr/>
            <p:nvPr/>
          </p:nvCxnSpPr>
          <p:spPr>
            <a:xfrm rot="10800000" flipH="1" flipV="1">
              <a:off x="5638800" y="3810000"/>
              <a:ext cx="456410" cy="1588"/>
            </a:xfrm>
            <a:prstGeom prst="line">
              <a:avLst/>
            </a:prstGeom>
            <a:ln w="190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H="1" flipV="1">
              <a:off x="5486400" y="3657600"/>
              <a:ext cx="304800" cy="1588"/>
            </a:xfrm>
            <a:prstGeom prst="straightConnector1">
              <a:avLst/>
            </a:prstGeom>
            <a:ln w="15875">
              <a:solidFill>
                <a:srgbClr val="FFFF00"/>
              </a:solidFill>
              <a:tailEnd type="arrow"/>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2971800" y="5715000"/>
            <a:ext cx="3276600" cy="738664"/>
          </a:xfrm>
          <a:prstGeom prst="rect">
            <a:avLst/>
          </a:prstGeom>
          <a:solidFill>
            <a:schemeClr val="bg1"/>
          </a:solidFill>
          <a:ln>
            <a:solidFill>
              <a:schemeClr val="tx1"/>
            </a:solidFill>
          </a:ln>
        </p:spPr>
        <p:txBody>
          <a:bodyPr wrap="square" rtlCol="0">
            <a:spAutoFit/>
          </a:bodyPr>
          <a:lstStyle/>
          <a:p>
            <a:r>
              <a:rPr lang="en-US" sz="1400" dirty="0" smtClean="0"/>
              <a:t>MTU is crooked, so the Aspirators jam against the MTU, preventing movement into the MTU tubes.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TotalTime>
  <Words>505</Words>
  <Application>Microsoft Office PowerPoint</Application>
  <PresentationFormat>On-screen Show (4:3)</PresentationFormat>
  <Paragraphs>28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OQ Jams in the Waste Chute-  Methods of Errors</vt:lpstr>
      <vt:lpstr>Slide 2</vt:lpstr>
      <vt:lpstr>Slide 3</vt:lpstr>
      <vt:lpstr>Slide 4</vt:lpstr>
      <vt:lpstr>Slide 5</vt:lpstr>
      <vt:lpstr>Slide 6</vt:lpstr>
      <vt:lpstr>Slide 7</vt:lpstr>
      <vt:lpstr>Slide 8</vt:lpstr>
    </vt:vector>
  </TitlesOfParts>
  <Company>Gen-Probe Incorporated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lendys</dc:creator>
  <cp:lastModifiedBy>lendys</cp:lastModifiedBy>
  <cp:revision>39</cp:revision>
  <dcterms:created xsi:type="dcterms:W3CDTF">2011-04-19T16:36:43Z</dcterms:created>
  <dcterms:modified xsi:type="dcterms:W3CDTF">2012-01-27T23:39:29Z</dcterms:modified>
</cp:coreProperties>
</file>